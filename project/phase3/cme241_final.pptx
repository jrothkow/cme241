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pByfteFKPwkG0c90deGRMk9L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Last quarter at Stanford, moving to Philadelphia to start first full-time job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More agency over how I choose to allocate my resources for multiple types of capital: time, money, and energy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Decided for this project to try to model this simplified version of a life optimization problem for an early career professional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In particular, I wanted to look at the interplay between these multiple types of capital, since something very important to me is athletics. 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 spend most of my time and energy outside of work doing olympic weightlifting, crossfit, (competitively) and cycling (just for fun).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b25720f7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b25720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All variables are discrete, in bins, modeled as one-hot encodings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Finite-horizon (T=3 years) to model early stage in my career</a:t>
            </a:r>
            <a:endParaRPr/>
          </a:p>
        </p:txBody>
      </p:sp>
      <p:sp>
        <p:nvSpPr>
          <p:cNvPr id="66" name="Google Shape;66;g3c5b25720f7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b25720f7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5b25720f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c5b25720f7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b25720f7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b25720f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One time step = 1 month.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Financial state moves deterministically: income - monthly expenses - investment allocation - discretionary consumption + asset returns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Everything else depends about linearly on the mentioned variables + some added stochastic noise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Energy: deterministic drift term + stochastic noise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c5b25720f7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5b25720f7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5b25720f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5b25720f7_0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5b25720f7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5b25720f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5b25720f7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b25720f7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5b25720f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5b25720f7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5b25720f7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5b25720f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5b25720f7_0_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5b25720f7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5b25720f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c5b25720f7_0_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5b25720f7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5b25720f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5b25720f7_0_1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Sig_White.eps" id="16" name="Google Shape;1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10350" y="4811713"/>
            <a:ext cx="2046288" cy="1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/>
          <p:nvPr/>
        </p:nvSpPr>
        <p:spPr>
          <a:xfrm>
            <a:off x="0" y="0"/>
            <a:ext cx="9155113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 txBox="1"/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cap="none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2" type="subTitle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4001D"/>
              </a:buClr>
              <a:buSzPts val="2400"/>
              <a:buNone/>
              <a:defRPr sz="2400" cap="none">
                <a:solidFill>
                  <a:srgbClr val="A4001D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iCME-large-web.png" id="21" name="Google Shape;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1736" y="4633281"/>
            <a:ext cx="3083664" cy="3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49327" y="1051102"/>
            <a:ext cx="3787775" cy="34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4876800" y="1051102"/>
            <a:ext cx="3779838" cy="3423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Horizontal">
  <p:cSld name="Two Content Horizontal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948777" y="1051101"/>
            <a:ext cx="7707862" cy="16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2" type="body"/>
          </p:nvPr>
        </p:nvSpPr>
        <p:spPr>
          <a:xfrm>
            <a:off x="949327" y="2818935"/>
            <a:ext cx="7707313" cy="1642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949327" y="1051101"/>
            <a:ext cx="3787775" cy="350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876800" y="1051102"/>
            <a:ext cx="3779838" cy="167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3" type="body"/>
          </p:nvPr>
        </p:nvSpPr>
        <p:spPr>
          <a:xfrm>
            <a:off x="4876800" y="2880810"/>
            <a:ext cx="3779838" cy="1674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" type="body"/>
          </p:nvPr>
        </p:nvSpPr>
        <p:spPr>
          <a:xfrm>
            <a:off x="949327" y="1051102"/>
            <a:ext cx="3787775" cy="1640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2" type="body"/>
          </p:nvPr>
        </p:nvSpPr>
        <p:spPr>
          <a:xfrm>
            <a:off x="955677" y="2860189"/>
            <a:ext cx="3781425" cy="1644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3" type="body"/>
          </p:nvPr>
        </p:nvSpPr>
        <p:spPr>
          <a:xfrm>
            <a:off x="4876800" y="1051102"/>
            <a:ext cx="3779838" cy="1640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4" type="body"/>
          </p:nvPr>
        </p:nvSpPr>
        <p:spPr>
          <a:xfrm>
            <a:off x="4876800" y="2860189"/>
            <a:ext cx="3779838" cy="1644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948776" y="501957"/>
            <a:ext cx="7707862" cy="4880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955677" y="1051101"/>
            <a:ext cx="7700963" cy="3411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5186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0" y="-6350"/>
            <a:ext cx="9155113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ME-large-web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31736" y="4633281"/>
            <a:ext cx="3083664" cy="3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subTitle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4001D"/>
              </a:buClr>
              <a:buSzPts val="2400"/>
              <a:buNone/>
              <a:defRPr sz="2400" cap="none">
                <a:solidFill>
                  <a:srgbClr val="A4001D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36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949325" y="584200"/>
            <a:ext cx="7707313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949325" y="1128713"/>
            <a:ext cx="7707313" cy="3303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5186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Arial"/>
              <a:buChar char="›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/>
          <p:nvPr/>
        </p:nvSpPr>
        <p:spPr>
          <a:xfrm>
            <a:off x="0" y="-1"/>
            <a:ext cx="355600" cy="5143501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8C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8C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ME-large-web.png" id="13" name="Google Shape;13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31736" y="4633281"/>
            <a:ext cx="3083664" cy="3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-533" y="4811713"/>
            <a:ext cx="846137" cy="271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15" Type="http://schemas.openxmlformats.org/officeDocument/2006/relationships/image" Target="../media/image22.png"/><Relationship Id="rId1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746375" y="805850"/>
            <a:ext cx="76341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Multi-Capital Decision Making Under Energy Constraints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3007350" y="3188200"/>
            <a:ext cx="3129300" cy="4893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0" spcFirstLastPara="1" rIns="0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Jordan Rothkowitz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2026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"/>
          <p:cNvSpPr txBox="1"/>
          <p:nvPr>
            <p:ph idx="2" type="subTitle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001D"/>
              </a:buClr>
              <a:buSzPts val="2400"/>
              <a:buFont typeface="Arial"/>
              <a:buNone/>
            </a:pPr>
            <a:r>
              <a:rPr lang="en-US">
                <a:solidFill>
                  <a:srgbClr val="8C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CME 241</a:t>
            </a:r>
            <a:endParaRPr>
              <a:solidFill>
                <a:srgbClr val="8C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5b25720f7_0_9"/>
          <p:cNvSpPr txBox="1"/>
          <p:nvPr>
            <p:ph type="title"/>
          </p:nvPr>
        </p:nvSpPr>
        <p:spPr>
          <a:xfrm>
            <a:off x="723151" y="204450"/>
            <a:ext cx="24918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MDP: State 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g3c5b25720f7_0_9"/>
          <p:cNvSpPr txBox="1"/>
          <p:nvPr>
            <p:ph idx="1" type="body"/>
          </p:nvPr>
        </p:nvSpPr>
        <p:spPr>
          <a:xfrm>
            <a:off x="723150" y="875138"/>
            <a:ext cx="4261200" cy="24321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Financial State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Liquid cash     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: discretized level (0–$50k in $2.5k bins)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Invested assets     ​ 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: discretized level (0–$150k in $5k bins)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Work &amp; Energy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Work intensity      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: low / medium / high (stochastic)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Energy      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: physical energy level (low / medium / high)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Month     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: planning horizon index (0–35)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State Space Size = 10 dimensions, |S| = 202,487,040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g3c5b25720f7_0_9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g3c5b25720f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525" y="248150"/>
            <a:ext cx="5562301" cy="4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c5b25720f7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102" y="1138017"/>
            <a:ext cx="202000" cy="1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c5b25720f7_0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6732" y="1333230"/>
            <a:ext cx="202000" cy="1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c5b25720f7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2195" y="1900487"/>
            <a:ext cx="202000" cy="19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c5b25720f7_0_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98533" y="2087518"/>
            <a:ext cx="202000" cy="190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g3c5b25720f7_0_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98949" y="1367558"/>
            <a:ext cx="260275" cy="1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c5b25720f7_0_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78248" y="1557904"/>
            <a:ext cx="260275" cy="190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c5b25720f7_0_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71925" y="1732024"/>
            <a:ext cx="291347" cy="1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c5b25720f7_0_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99126" y="2681032"/>
            <a:ext cx="167044" cy="1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c5b25720f7_0_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38968" y="2324642"/>
            <a:ext cx="167050" cy="190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c5b25720f7_0_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61083" y="2688953"/>
            <a:ext cx="167050" cy="1628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c5b25720f7_0_9"/>
          <p:cNvSpPr txBox="1"/>
          <p:nvPr/>
        </p:nvSpPr>
        <p:spPr>
          <a:xfrm>
            <a:off x="5164450" y="875138"/>
            <a:ext cx="33762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Fitness State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independent fitness dimensions: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        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(0–3)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capacity      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(0–3)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Endurance         ​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(0–3)</a:t>
            </a:r>
            <a:b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Stress &amp; Health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load     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accumulated fatigue (0–4)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Injury state    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(healthy / minor injury / major injury)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g3c5b25720f7_0_9"/>
          <p:cNvSpPr txBox="1"/>
          <p:nvPr/>
        </p:nvSpPr>
        <p:spPr>
          <a:xfrm>
            <a:off x="845475" y="3567338"/>
            <a:ext cx="71394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variables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Injury risk score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: deterministic function of current physiological state and training decisions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cycle phase                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: accumulation / intensification / peak month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g3c5b25720f7_0_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71325" y="4037225"/>
            <a:ext cx="1226725" cy="2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c5b25720f7_0_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507750" y="3885052"/>
            <a:ext cx="167050" cy="159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b25720f7_0_16"/>
          <p:cNvSpPr txBox="1"/>
          <p:nvPr>
            <p:ph type="title"/>
          </p:nvPr>
        </p:nvSpPr>
        <p:spPr>
          <a:xfrm>
            <a:off x="948776" y="44080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MDP: Action 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c5b25720f7_0_16"/>
          <p:cNvSpPr txBox="1"/>
          <p:nvPr>
            <p:ph idx="1" type="body"/>
          </p:nvPr>
        </p:nvSpPr>
        <p:spPr>
          <a:xfrm>
            <a:off x="721500" y="1051100"/>
            <a:ext cx="80169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Investment level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(0%, 10%, 20% of monthly take-home after base expenses)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Training mode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(recovery / strength-focused / mixed-modal / endurance-focused)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Training volume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(low / medium / high)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Discretionary spending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(frugal / moderate / generous)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Action space size = 4 dimensions, |A| = 108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g3c5b25720f7_0_16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5b25720f7_0_23"/>
          <p:cNvSpPr txBox="1"/>
          <p:nvPr>
            <p:ph type="title"/>
          </p:nvPr>
        </p:nvSpPr>
        <p:spPr>
          <a:xfrm>
            <a:off x="948776" y="299582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MDP: Transition Dynamics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g3c5b25720f7_0_23"/>
          <p:cNvSpPr txBox="1"/>
          <p:nvPr>
            <p:ph idx="1" type="body"/>
          </p:nvPr>
        </p:nvSpPr>
        <p:spPr>
          <a:xfrm>
            <a:off x="5368625" y="871300"/>
            <a:ext cx="34923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Deterministic Transitions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Time: Monthly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Financial state: Cash and assets updated by a financial function depending 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ncome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equired expenses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iscretionary consumption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nvestment allocation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sset returns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orced liquidation if cash becomes negative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g3c5b25720f7_0_23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g3c5b25720f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750" y="981175"/>
            <a:ext cx="1639624" cy="76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c5b25720f7_0_23"/>
          <p:cNvSpPr txBox="1"/>
          <p:nvPr>
            <p:ph idx="1" type="body"/>
          </p:nvPr>
        </p:nvSpPr>
        <p:spPr>
          <a:xfrm>
            <a:off x="661975" y="871300"/>
            <a:ext cx="4581300" cy="3856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Stochastic</a:t>
            </a: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 Transitions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Work intensity: Markov chain with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Energy: depends 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Current energy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Training volume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Work intensity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Accumulated fatigue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Injury status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Training load: accumulated fatigue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Increases with training mode, intensity, and injury state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Decreases with high energy and low work intensity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Fitness dimensions evolve separately, depending on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Mode, volume, recovery, fatigue, injury state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Injury depends on an injury risk score calculated via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Accumulated 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load</a:t>
            </a: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, energy, work intensity, training volume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b25720f7_0_71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c5b25720f7_0_71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5b25720f7_0_71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g3c5b25720f7_0_71" title="transition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450" y="184000"/>
            <a:ext cx="6338976" cy="422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5b25720f7_0_30"/>
          <p:cNvSpPr txBox="1"/>
          <p:nvPr>
            <p:ph type="title"/>
          </p:nvPr>
        </p:nvSpPr>
        <p:spPr>
          <a:xfrm>
            <a:off x="952226" y="3883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MDP: Reward Function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c5b25720f7_0_30"/>
          <p:cNvSpPr txBox="1"/>
          <p:nvPr>
            <p:ph idx="1" type="body"/>
          </p:nvPr>
        </p:nvSpPr>
        <p:spPr>
          <a:xfrm>
            <a:off x="845475" y="2088525"/>
            <a:ext cx="7701000" cy="2437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Additive across financial, fitness, and energy states with penalties for fatigue, injury, training while injured, and forced asset liquidation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Terminal reward for reaching the planning horizon (36 months / 3 years) with high fitness, wealth, and energy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c5b25720f7_0_30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g3c5b25720f7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713" y="1051097"/>
            <a:ext cx="7184573" cy="7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5b25720f7_0_37"/>
          <p:cNvSpPr txBox="1"/>
          <p:nvPr>
            <p:ph type="title"/>
          </p:nvPr>
        </p:nvSpPr>
        <p:spPr>
          <a:xfrm>
            <a:off x="952226" y="23980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c5b25720f7_0_37"/>
          <p:cNvSpPr txBox="1"/>
          <p:nvPr>
            <p:ph idx="1" type="body"/>
          </p:nvPr>
        </p:nvSpPr>
        <p:spPr>
          <a:xfrm>
            <a:off x="721500" y="727900"/>
            <a:ext cx="79821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MDP: Finite-horizon (T=36 months) value iteration via backward induction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One-hot encodings for discrete state variables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Precomputed transition tables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Vectorized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RL: PPO with Stable-Baselines3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Policy gradient method for higher-dimensional, stochastic environments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MDP wrapped in Gymnasium environment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MultiDiscrete action 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Hyperparameters: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g3c5b25720f7_0_37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0" name="Google Shape;130;g3c5b25720f7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438" y="2766950"/>
            <a:ext cx="343852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5b25720f7_0_98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Results: DP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c5b25720f7_0_98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c5b25720f7_0_98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9" name="Google Shape;139;g3c5b25720f7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975" y="1051100"/>
            <a:ext cx="6254049" cy="341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b25720f7_0_114"/>
          <p:cNvSpPr txBox="1"/>
          <p:nvPr>
            <p:ph type="title"/>
          </p:nvPr>
        </p:nvSpPr>
        <p:spPr>
          <a:xfrm>
            <a:off x="459401" y="12620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Results: PPO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c5b25720f7_0_114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5b25720f7_0_114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g3c5b25720f7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25" y="769000"/>
            <a:ext cx="8734474" cy="369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5b25720f7_0_105"/>
          <p:cNvSpPr txBox="1"/>
          <p:nvPr>
            <p:ph type="title"/>
          </p:nvPr>
        </p:nvSpPr>
        <p:spPr>
          <a:xfrm>
            <a:off x="948776" y="501957"/>
            <a:ext cx="7707900" cy="4881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Extensions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c5b25720f7_0_105"/>
          <p:cNvSpPr txBox="1"/>
          <p:nvPr>
            <p:ph idx="1" type="body"/>
          </p:nvPr>
        </p:nvSpPr>
        <p:spPr>
          <a:xfrm>
            <a:off x="955677" y="1051101"/>
            <a:ext cx="7701000" cy="34113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Richer representation of finances, add stochasticity to asset returns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Richer representation of work intensity (phase by quarter or stochastic shocks)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Transition dynamics to capture more interplay between different types of capital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Increase time horizon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c5b25720f7_0_105"/>
          <p:cNvSpPr txBox="1"/>
          <p:nvPr>
            <p:ph idx="12" type="sldNum"/>
          </p:nvPr>
        </p:nvSpPr>
        <p:spPr>
          <a:xfrm>
            <a:off x="-533" y="4811713"/>
            <a:ext cx="846000" cy="27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U_ENG_AA_PPT_16x9_revised_012215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2012-12-05T23:46:21Z</dcterms:created>
  <dc:creator>Valerie Beeman</dc:creator>
</cp:coreProperties>
</file>